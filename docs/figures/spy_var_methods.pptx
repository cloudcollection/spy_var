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320040" y="91440"/>
            <a:ext cx="13990320" cy="5486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202124"/>
                </a:solidFill>
                <a:latin typeface="Times New Roman"/>
                <a:ea typeface="Times New Roman"/>
              </a:rPr>
              <a:t>One-day SPY quantile forecasting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65760" y="749808"/>
            <a:ext cx="4023360" cy="38404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(a) Observed data</a:t>
            </a:r>
          </a:p>
        </p:txBody>
      </p:sp>
      <p:pic>
        <p:nvPicPr>
          <p:cNvPr id="4" name="returns" descr="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96848"/>
            <a:ext cx="4754880" cy="1849120"/>
          </a:xfrm>
          <a:prstGeom prst="rect">
            <a:avLst/>
          </a:prstGeom>
          <a:effectLst/>
        </p:spPr>
      </p:pic>
      <p:sp>
        <p:nvSpPr>
          <p:cNvPr id="5" name="label"/>
          <p:cNvSpPr txBox="1"/>
          <p:nvPr/>
        </p:nvSpPr>
        <p:spPr>
          <a:xfrm>
            <a:off x="5394960" y="749808"/>
            <a:ext cx="3566160" cy="38404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(b) Empirical return distribution</a:t>
            </a:r>
          </a:p>
        </p:txBody>
      </p:sp>
      <p:pic>
        <p:nvPicPr>
          <p:cNvPr id="6" name="distribution" descr="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199" y="1170432"/>
            <a:ext cx="3169920" cy="1901952"/>
          </a:xfrm>
          <a:prstGeom prst="rect">
            <a:avLst/>
          </a:prstGeom>
          <a:effectLst/>
        </p:spPr>
      </p:pic>
      <p:sp>
        <p:nvSpPr>
          <p:cNvPr id="7" name="label"/>
          <p:cNvSpPr txBox="1"/>
          <p:nvPr/>
        </p:nvSpPr>
        <p:spPr>
          <a:xfrm>
            <a:off x="9098280" y="749808"/>
            <a:ext cx="5120640" cy="38404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(c) Chronological estimation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9235440" y="1234440"/>
            <a:ext cx="47548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Forecast target: day t</a:t>
            </a:r>
          </a:p>
        </p:txBody>
      </p:sp>
      <p:sp>
        <p:nvSpPr>
          <p:cNvPr id="9" name="frame"/>
          <p:cNvSpPr/>
          <p:nvPr/>
        </p:nvSpPr>
        <p:spPr>
          <a:xfrm>
            <a:off x="9326880" y="1828800"/>
            <a:ext cx="2651760" cy="68580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"/>
          <p:cNvSpPr txBox="1"/>
          <p:nvPr/>
        </p:nvSpPr>
        <p:spPr>
          <a:xfrm>
            <a:off x="9326880" y="1828800"/>
            <a:ext cx="2651760" cy="6858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Training</a:t>
            </a:r>
          </a:p>
        </p:txBody>
      </p:sp>
      <p:sp>
        <p:nvSpPr>
          <p:cNvPr id="11" name="frame"/>
          <p:cNvSpPr/>
          <p:nvPr/>
        </p:nvSpPr>
        <p:spPr>
          <a:xfrm>
            <a:off x="11978640" y="1828800"/>
            <a:ext cx="1280160" cy="68580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el"/>
          <p:cNvSpPr txBox="1"/>
          <p:nvPr/>
        </p:nvSpPr>
        <p:spPr>
          <a:xfrm>
            <a:off x="11978640" y="1828800"/>
            <a:ext cx="1280160" cy="6858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Validation</a:t>
            </a:r>
          </a:p>
        </p:txBody>
      </p:sp>
      <p:sp>
        <p:nvSpPr>
          <p:cNvPr id="13" name="frame"/>
          <p:cNvSpPr/>
          <p:nvPr/>
        </p:nvSpPr>
        <p:spPr>
          <a:xfrm>
            <a:off x="13414248" y="1828800"/>
            <a:ext cx="502920" cy="685800"/>
          </a:xfrm>
          <a:prstGeom prst="roundRect">
            <a:avLst>
              <a:gd name="adj" fmla="val 5000"/>
            </a:avLst>
          </a:prstGeom>
          <a:solidFill>
            <a:srgbClr val="F5DEDC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el"/>
          <p:cNvSpPr txBox="1"/>
          <p:nvPr/>
        </p:nvSpPr>
        <p:spPr>
          <a:xfrm>
            <a:off x="13414248" y="1828800"/>
            <a:ext cx="502920" cy="6858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t</a:t>
            </a:r>
          </a:p>
        </p:txBody>
      </p:sp>
      <p:cxnSp>
        <p:nvCxnSpPr>
          <p:cNvPr id="15" name="arrow-flow"/>
          <p:cNvCxnSpPr/>
          <p:nvPr/>
        </p:nvCxnSpPr>
        <p:spPr>
          <a:xfrm>
            <a:off x="9281160" y="2770632"/>
            <a:ext cx="475488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abel"/>
          <p:cNvSpPr txBox="1"/>
          <p:nvPr/>
        </p:nvSpPr>
        <p:spPr>
          <a:xfrm>
            <a:off x="9098280" y="2880360"/>
            <a:ext cx="512064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Past observations only; roll forward one day</a:t>
            </a:r>
          </a:p>
        </p:txBody>
      </p:sp>
      <p:cxnSp>
        <p:nvCxnSpPr>
          <p:cNvPr id="17" name="rule"/>
          <p:cNvCxnSpPr/>
          <p:nvPr/>
        </p:nvCxnSpPr>
        <p:spPr>
          <a:xfrm>
            <a:off x="320040" y="3383280"/>
            <a:ext cx="13990320" cy="0"/>
          </a:xfrm>
          <a:prstGeom prst="line">
            <a:avLst/>
          </a:prstGeom>
          <a:ln w="10160">
            <a:solidFill>
              <a:srgbClr val="66717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abel"/>
          <p:cNvSpPr txBox="1"/>
          <p:nvPr/>
        </p:nvSpPr>
        <p:spPr>
          <a:xfrm>
            <a:off x="365760" y="3493008"/>
            <a:ext cx="13898880" cy="43891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202124"/>
                </a:solidFill>
                <a:latin typeface="Times New Roman"/>
                <a:ea typeface="Times New Roman"/>
              </a:rPr>
              <a:t>(d) Implemented model families and shared evaluation</a:t>
            </a:r>
          </a:p>
        </p:txBody>
      </p:sp>
      <p:sp>
        <p:nvSpPr>
          <p:cNvPr id="19" name="frame"/>
          <p:cNvSpPr/>
          <p:nvPr/>
        </p:nvSpPr>
        <p:spPr>
          <a:xfrm>
            <a:off x="411480" y="4800600"/>
            <a:ext cx="2560320" cy="132588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abel"/>
          <p:cNvSpPr txBox="1"/>
          <p:nvPr/>
        </p:nvSpPr>
        <p:spPr>
          <a:xfrm>
            <a:off x="411480" y="4800600"/>
            <a:ext cx="2560320" cy="13258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SPY snapshot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4,640 trading observations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log_ret  ·  rv5  ·  bv</a:t>
            </a:r>
          </a:p>
        </p:txBody>
      </p:sp>
      <p:cxnSp>
        <p:nvCxnSpPr>
          <p:cNvPr id="21" name="arrow-flow"/>
          <p:cNvCxnSpPr/>
          <p:nvPr/>
        </p:nvCxnSpPr>
        <p:spPr>
          <a:xfrm>
            <a:off x="2971800" y="5468112"/>
            <a:ext cx="54864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ule"/>
          <p:cNvCxnSpPr/>
          <p:nvPr/>
        </p:nvCxnSpPr>
        <p:spPr>
          <a:xfrm>
            <a:off x="3520440" y="4416552"/>
            <a:ext cx="0" cy="2322576"/>
          </a:xfrm>
          <a:prstGeom prst="line">
            <a:avLst/>
          </a:prstGeom>
          <a:ln w="10160">
            <a:solidFill>
              <a:srgbClr val="6671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-flow"/>
          <p:cNvCxnSpPr/>
          <p:nvPr/>
        </p:nvCxnSpPr>
        <p:spPr>
          <a:xfrm>
            <a:off x="3520440" y="4416552"/>
            <a:ext cx="59436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row-flow"/>
          <p:cNvCxnSpPr/>
          <p:nvPr/>
        </p:nvCxnSpPr>
        <p:spPr>
          <a:xfrm>
            <a:off x="3520440" y="6739128"/>
            <a:ext cx="59436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ame"/>
          <p:cNvSpPr/>
          <p:nvPr/>
        </p:nvSpPr>
        <p:spPr>
          <a:xfrm>
            <a:off x="4114800" y="4023360"/>
            <a:ext cx="4069080" cy="1143000"/>
          </a:xfrm>
          <a:prstGeom prst="roundRect">
            <a:avLst>
              <a:gd name="adj" fmla="val 5000"/>
            </a:avLst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"/>
          <p:cNvSpPr txBox="1"/>
          <p:nvPr/>
        </p:nvSpPr>
        <p:spPr>
          <a:xfrm>
            <a:off x="4114800" y="4023360"/>
            <a:ext cx="4069080" cy="11430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Statistical baselines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Ordinary / weighted / KDE HS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GARCH-t  ·  GJR-GARCH-t</a:t>
            </a:r>
          </a:p>
        </p:txBody>
      </p:sp>
      <p:sp>
        <p:nvSpPr>
          <p:cNvPr id="27" name="frame"/>
          <p:cNvSpPr/>
          <p:nvPr/>
        </p:nvSpPr>
        <p:spPr>
          <a:xfrm>
            <a:off x="4114800" y="6080760"/>
            <a:ext cx="4069080" cy="114300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abel"/>
          <p:cNvSpPr txBox="1"/>
          <p:nvPr/>
        </p:nvSpPr>
        <p:spPr>
          <a:xfrm>
            <a:off x="4114800" y="6080760"/>
            <a:ext cx="4069080" cy="11430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Neural quantile models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MLP  ·  C2 anchored correction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PatchTST-inspired Transformer</a:t>
            </a:r>
          </a:p>
        </p:txBody>
      </p:sp>
      <p:cxnSp>
        <p:nvCxnSpPr>
          <p:cNvPr id="29" name="arrow-flow"/>
          <p:cNvCxnSpPr/>
          <p:nvPr/>
        </p:nvCxnSpPr>
        <p:spPr>
          <a:xfrm>
            <a:off x="6126480" y="5166360"/>
            <a:ext cx="0" cy="914400"/>
          </a:xfrm>
          <a:prstGeom prst="line">
            <a:avLst/>
          </a:prstGeom>
          <a:ln w="17780">
            <a:solidFill>
              <a:srgbClr val="8E6B9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abel"/>
          <p:cNvSpPr txBox="1"/>
          <p:nvPr/>
        </p:nvSpPr>
        <p:spPr>
          <a:xfrm>
            <a:off x="6400800" y="5440680"/>
            <a:ext cx="237744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GARCH anchor → C2</a:t>
            </a:r>
          </a:p>
        </p:txBody>
      </p:sp>
      <p:cxnSp>
        <p:nvCxnSpPr>
          <p:cNvPr id="31" name="arrow-flow"/>
          <p:cNvCxnSpPr/>
          <p:nvPr/>
        </p:nvCxnSpPr>
        <p:spPr>
          <a:xfrm>
            <a:off x="8183880" y="4599432"/>
            <a:ext cx="82296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rrow-flow"/>
          <p:cNvCxnSpPr/>
          <p:nvPr/>
        </p:nvCxnSpPr>
        <p:spPr>
          <a:xfrm>
            <a:off x="8183880" y="6647688"/>
            <a:ext cx="82296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ule"/>
          <p:cNvCxnSpPr/>
          <p:nvPr/>
        </p:nvCxnSpPr>
        <p:spPr>
          <a:xfrm>
            <a:off x="9006840" y="4599432"/>
            <a:ext cx="0" cy="2048256"/>
          </a:xfrm>
          <a:prstGeom prst="line">
            <a:avLst/>
          </a:prstGeom>
          <a:ln w="10160">
            <a:solidFill>
              <a:srgbClr val="6671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rrow-flow"/>
          <p:cNvCxnSpPr/>
          <p:nvPr/>
        </p:nvCxnSpPr>
        <p:spPr>
          <a:xfrm>
            <a:off x="9006840" y="5596128"/>
            <a:ext cx="5029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ame"/>
          <p:cNvSpPr/>
          <p:nvPr/>
        </p:nvSpPr>
        <p:spPr>
          <a:xfrm>
            <a:off x="9509760" y="5029200"/>
            <a:ext cx="2468880" cy="105156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abel"/>
          <p:cNvSpPr txBox="1"/>
          <p:nvPr/>
        </p:nvSpPr>
        <p:spPr>
          <a:xfrm>
            <a:off x="9509760" y="5029200"/>
            <a:ext cx="2468880" cy="10515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Three ordered quantiles</a:t>
            </a:r>
          </a:p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q₀.₀₁,t ≤ q₀.₀₅,t ≤ q₀.₁₀,t</a:t>
            </a:r>
          </a:p>
        </p:txBody>
      </p:sp>
      <p:cxnSp>
        <p:nvCxnSpPr>
          <p:cNvPr id="37" name="arrow-flow"/>
          <p:cNvCxnSpPr/>
          <p:nvPr/>
        </p:nvCxnSpPr>
        <p:spPr>
          <a:xfrm>
            <a:off x="11978640" y="5559552"/>
            <a:ext cx="45720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ame"/>
          <p:cNvSpPr/>
          <p:nvPr/>
        </p:nvSpPr>
        <p:spPr>
          <a:xfrm>
            <a:off x="12435840" y="4663440"/>
            <a:ext cx="1874519" cy="1737360"/>
          </a:xfrm>
          <a:prstGeom prst="roundRect">
            <a:avLst>
              <a:gd name="adj" fmla="val 5000"/>
            </a:avLst>
          </a:prstGeom>
          <a:solidFill>
            <a:srgbClr val="F7F4EB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abel"/>
          <p:cNvSpPr txBox="1"/>
          <p:nvPr/>
        </p:nvSpPr>
        <p:spPr>
          <a:xfrm>
            <a:off x="12435840" y="4663440"/>
            <a:ext cx="1874519" cy="17373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Shared target dates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Coverage /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independence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Pinball loss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Fit diagnostics</a:t>
            </a:r>
          </a:p>
        </p:txBody>
      </p:sp>
      <p:sp>
        <p:nvSpPr>
          <p:cNvPr id="40" name="label"/>
          <p:cNvSpPr txBox="1"/>
          <p:nvPr/>
        </p:nvSpPr>
        <p:spPr>
          <a:xfrm>
            <a:off x="320040" y="7571231"/>
            <a:ext cx="13990320" cy="329184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Data: 2000-01-04–2018-06-27  ·  horizon: one trading day  ·  α ∈ {0.01, 0.05, 0.10}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274320" y="91440"/>
            <a:ext cx="14081760" cy="5486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202124"/>
                </a:solidFill>
                <a:latin typeface="Times New Roman"/>
                <a:ea typeface="Times New Roman"/>
              </a:rPr>
              <a:t>Conservative GARCH-anchored neural correction (C2)</a:t>
            </a:r>
          </a:p>
        </p:txBody>
      </p:sp>
      <p:sp>
        <p:nvSpPr>
          <p:cNvPr id="3" name="dashed-feature-group"/>
          <p:cNvSpPr/>
          <p:nvPr/>
        </p:nvSpPr>
        <p:spPr>
          <a:xfrm>
            <a:off x="320040" y="960120"/>
            <a:ext cx="3200400" cy="402336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6671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el"/>
          <p:cNvSpPr txBox="1"/>
          <p:nvPr/>
        </p:nvSpPr>
        <p:spPr>
          <a:xfrm>
            <a:off x="411480" y="1024128"/>
            <a:ext cx="3017520" cy="38404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(a) Observed feature vector</a:t>
            </a:r>
          </a:p>
        </p:txBody>
      </p:sp>
      <p:sp>
        <p:nvSpPr>
          <p:cNvPr id="5" name="frame"/>
          <p:cNvSpPr/>
          <p:nvPr/>
        </p:nvSpPr>
        <p:spPr>
          <a:xfrm>
            <a:off x="594360" y="164592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"/>
          <p:cNvSpPr txBox="1"/>
          <p:nvPr/>
        </p:nvSpPr>
        <p:spPr>
          <a:xfrm>
            <a:off x="594360" y="1645920"/>
            <a:ext cx="2651760" cy="8686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Lagged returns and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rolling statistics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10 features</a:t>
            </a:r>
          </a:p>
        </p:txBody>
      </p:sp>
      <p:sp>
        <p:nvSpPr>
          <p:cNvPr id="7" name="frame"/>
          <p:cNvSpPr/>
          <p:nvPr/>
        </p:nvSpPr>
        <p:spPr>
          <a:xfrm>
            <a:off x="594360" y="274320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el"/>
          <p:cNvSpPr txBox="1"/>
          <p:nvPr/>
        </p:nvSpPr>
        <p:spPr>
          <a:xfrm>
            <a:off x="594360" y="2743200"/>
            <a:ext cx="2651760" cy="7315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Lagged rv5 and bv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4 features</a:t>
            </a:r>
          </a:p>
        </p:txBody>
      </p:sp>
      <p:sp>
        <p:nvSpPr>
          <p:cNvPr id="9" name="frame"/>
          <p:cNvSpPr/>
          <p:nvPr/>
        </p:nvSpPr>
        <p:spPr>
          <a:xfrm>
            <a:off x="594360" y="3703320"/>
            <a:ext cx="2651760" cy="777240"/>
          </a:xfrm>
          <a:prstGeom prst="roundRect">
            <a:avLst>
              <a:gd name="adj" fmla="val 5000"/>
            </a:avLst>
          </a:prstGeom>
          <a:solidFill>
            <a:srgbClr val="F5DEDC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"/>
          <p:cNvSpPr txBox="1"/>
          <p:nvPr/>
        </p:nvSpPr>
        <p:spPr>
          <a:xfrm>
            <a:off x="594360" y="3703320"/>
            <a:ext cx="2651760" cy="7772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GARCH quantiles + σ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4 features</a:t>
            </a:r>
          </a:p>
        </p:txBody>
      </p:sp>
      <p:sp>
        <p:nvSpPr>
          <p:cNvPr id="11" name="label"/>
          <p:cNvSpPr txBox="1"/>
          <p:nvPr/>
        </p:nvSpPr>
        <p:spPr>
          <a:xfrm>
            <a:off x="320040" y="5074920"/>
            <a:ext cx="3383280" cy="5029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18 inputs; training-only standardization</a:t>
            </a:r>
          </a:p>
        </p:txBody>
      </p:sp>
      <p:cxnSp>
        <p:nvCxnSpPr>
          <p:cNvPr id="12" name="arrow-flow"/>
          <p:cNvCxnSpPr/>
          <p:nvPr/>
        </p:nvCxnSpPr>
        <p:spPr>
          <a:xfrm>
            <a:off x="3520440" y="2926080"/>
            <a:ext cx="7315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abel"/>
          <p:cNvSpPr txBox="1"/>
          <p:nvPr/>
        </p:nvSpPr>
        <p:spPr>
          <a:xfrm>
            <a:off x="4114800" y="914400"/>
            <a:ext cx="507492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(b) Dense correction network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572000" y="205740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ule"/>
          <p:cNvCxnSpPr/>
          <p:nvPr/>
        </p:nvCxnSpPr>
        <p:spPr>
          <a:xfrm>
            <a:off x="4572000" y="2057400"/>
            <a:ext cx="1188720" cy="4343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ule"/>
          <p:cNvCxnSpPr/>
          <p:nvPr/>
        </p:nvCxnSpPr>
        <p:spPr>
          <a:xfrm>
            <a:off x="4572000" y="205740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ule"/>
          <p:cNvCxnSpPr/>
          <p:nvPr/>
        </p:nvCxnSpPr>
        <p:spPr>
          <a:xfrm>
            <a:off x="4572000" y="2057400"/>
            <a:ext cx="1188720" cy="13030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ule"/>
          <p:cNvCxnSpPr/>
          <p:nvPr/>
        </p:nvCxnSpPr>
        <p:spPr>
          <a:xfrm>
            <a:off x="457200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ule"/>
          <p:cNvCxnSpPr/>
          <p:nvPr/>
        </p:nvCxnSpPr>
        <p:spPr>
          <a:xfrm flipV="1">
            <a:off x="4572000" y="205740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ule"/>
          <p:cNvCxnSpPr/>
          <p:nvPr/>
        </p:nvCxnSpPr>
        <p:spPr>
          <a:xfrm flipV="1">
            <a:off x="4572000" y="2491740"/>
            <a:ext cx="1188720" cy="1447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ule"/>
          <p:cNvCxnSpPr/>
          <p:nvPr/>
        </p:nvCxnSpPr>
        <p:spPr>
          <a:xfrm>
            <a:off x="4572000" y="263652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ule"/>
          <p:cNvCxnSpPr/>
          <p:nvPr/>
        </p:nvCxnSpPr>
        <p:spPr>
          <a:xfrm>
            <a:off x="4572000" y="2636520"/>
            <a:ext cx="1188720" cy="72390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ule"/>
          <p:cNvCxnSpPr/>
          <p:nvPr/>
        </p:nvCxnSpPr>
        <p:spPr>
          <a:xfrm>
            <a:off x="4572000" y="263652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ule"/>
          <p:cNvCxnSpPr/>
          <p:nvPr/>
        </p:nvCxnSpPr>
        <p:spPr>
          <a:xfrm flipV="1">
            <a:off x="4572000" y="205740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ule"/>
          <p:cNvCxnSpPr/>
          <p:nvPr/>
        </p:nvCxnSpPr>
        <p:spPr>
          <a:xfrm flipV="1">
            <a:off x="4572000" y="2491740"/>
            <a:ext cx="1188720" cy="72390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ule"/>
          <p:cNvCxnSpPr/>
          <p:nvPr/>
        </p:nvCxnSpPr>
        <p:spPr>
          <a:xfrm flipV="1">
            <a:off x="4572000" y="292608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ule"/>
          <p:cNvCxnSpPr/>
          <p:nvPr/>
        </p:nvCxnSpPr>
        <p:spPr>
          <a:xfrm>
            <a:off x="4572000" y="3215640"/>
            <a:ext cx="1188720" cy="1447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ule"/>
          <p:cNvCxnSpPr/>
          <p:nvPr/>
        </p:nvCxnSpPr>
        <p:spPr>
          <a:xfrm>
            <a:off x="4572000" y="321564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ule"/>
          <p:cNvCxnSpPr/>
          <p:nvPr/>
        </p:nvCxnSpPr>
        <p:spPr>
          <a:xfrm flipV="1">
            <a:off x="457200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ule"/>
          <p:cNvCxnSpPr/>
          <p:nvPr/>
        </p:nvCxnSpPr>
        <p:spPr>
          <a:xfrm flipV="1">
            <a:off x="4572000" y="2491740"/>
            <a:ext cx="1188720" cy="13030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ule"/>
          <p:cNvCxnSpPr/>
          <p:nvPr/>
        </p:nvCxnSpPr>
        <p:spPr>
          <a:xfrm flipV="1">
            <a:off x="4572000" y="292608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ule"/>
          <p:cNvCxnSpPr/>
          <p:nvPr/>
        </p:nvCxnSpPr>
        <p:spPr>
          <a:xfrm flipV="1">
            <a:off x="4572000" y="3360420"/>
            <a:ext cx="1188720" cy="4343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ule"/>
          <p:cNvCxnSpPr/>
          <p:nvPr/>
        </p:nvCxnSpPr>
        <p:spPr>
          <a:xfrm>
            <a:off x="4572000" y="379476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ule"/>
          <p:cNvCxnSpPr/>
          <p:nvPr/>
        </p:nvCxnSpPr>
        <p:spPr>
          <a:xfrm>
            <a:off x="5760720" y="205740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ule"/>
          <p:cNvCxnSpPr/>
          <p:nvPr/>
        </p:nvCxnSpPr>
        <p:spPr>
          <a:xfrm>
            <a:off x="5760720" y="205740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ule"/>
          <p:cNvCxnSpPr/>
          <p:nvPr/>
        </p:nvCxnSpPr>
        <p:spPr>
          <a:xfrm>
            <a:off x="5760720" y="205740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ule"/>
          <p:cNvCxnSpPr/>
          <p:nvPr/>
        </p:nvCxnSpPr>
        <p:spPr>
          <a:xfrm>
            <a:off x="576072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ule"/>
          <p:cNvCxnSpPr/>
          <p:nvPr/>
        </p:nvCxnSpPr>
        <p:spPr>
          <a:xfrm flipV="1">
            <a:off x="5760720" y="2057400"/>
            <a:ext cx="1188720" cy="4343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ule"/>
          <p:cNvCxnSpPr/>
          <p:nvPr/>
        </p:nvCxnSpPr>
        <p:spPr>
          <a:xfrm>
            <a:off x="5760720" y="2491740"/>
            <a:ext cx="1188720" cy="1447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ule"/>
          <p:cNvCxnSpPr/>
          <p:nvPr/>
        </p:nvCxnSpPr>
        <p:spPr>
          <a:xfrm>
            <a:off x="5760720" y="2491740"/>
            <a:ext cx="1188720" cy="72390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ule"/>
          <p:cNvCxnSpPr/>
          <p:nvPr/>
        </p:nvCxnSpPr>
        <p:spPr>
          <a:xfrm>
            <a:off x="5760720" y="2491740"/>
            <a:ext cx="1188720" cy="13030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ule"/>
          <p:cNvCxnSpPr/>
          <p:nvPr/>
        </p:nvCxnSpPr>
        <p:spPr>
          <a:xfrm flipV="1">
            <a:off x="5760720" y="205740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ule"/>
          <p:cNvCxnSpPr/>
          <p:nvPr/>
        </p:nvCxnSpPr>
        <p:spPr>
          <a:xfrm flipV="1">
            <a:off x="5760720" y="263652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ule"/>
          <p:cNvCxnSpPr/>
          <p:nvPr/>
        </p:nvCxnSpPr>
        <p:spPr>
          <a:xfrm>
            <a:off x="5760720" y="292608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ule"/>
          <p:cNvCxnSpPr/>
          <p:nvPr/>
        </p:nvCxnSpPr>
        <p:spPr>
          <a:xfrm>
            <a:off x="5760720" y="292608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ule"/>
          <p:cNvCxnSpPr/>
          <p:nvPr/>
        </p:nvCxnSpPr>
        <p:spPr>
          <a:xfrm flipV="1">
            <a:off x="5760720" y="2057400"/>
            <a:ext cx="1188720" cy="13030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ule"/>
          <p:cNvCxnSpPr/>
          <p:nvPr/>
        </p:nvCxnSpPr>
        <p:spPr>
          <a:xfrm flipV="1">
            <a:off x="5760720" y="2636520"/>
            <a:ext cx="1188720" cy="72390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ule"/>
          <p:cNvCxnSpPr/>
          <p:nvPr/>
        </p:nvCxnSpPr>
        <p:spPr>
          <a:xfrm flipV="1">
            <a:off x="5760720" y="3215640"/>
            <a:ext cx="1188720" cy="1447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ule"/>
          <p:cNvCxnSpPr/>
          <p:nvPr/>
        </p:nvCxnSpPr>
        <p:spPr>
          <a:xfrm>
            <a:off x="5760720" y="3360420"/>
            <a:ext cx="1188720" cy="4343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ule"/>
          <p:cNvCxnSpPr/>
          <p:nvPr/>
        </p:nvCxnSpPr>
        <p:spPr>
          <a:xfrm flipV="1">
            <a:off x="576072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ule"/>
          <p:cNvCxnSpPr/>
          <p:nvPr/>
        </p:nvCxnSpPr>
        <p:spPr>
          <a:xfrm flipV="1">
            <a:off x="5760720" y="263652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rule"/>
          <p:cNvCxnSpPr/>
          <p:nvPr/>
        </p:nvCxnSpPr>
        <p:spPr>
          <a:xfrm flipV="1">
            <a:off x="5760720" y="321564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ule"/>
          <p:cNvCxnSpPr/>
          <p:nvPr/>
        </p:nvCxnSpPr>
        <p:spPr>
          <a:xfrm>
            <a:off x="5760720" y="379476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ule"/>
          <p:cNvCxnSpPr/>
          <p:nvPr/>
        </p:nvCxnSpPr>
        <p:spPr>
          <a:xfrm>
            <a:off x="6949440" y="205740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ule"/>
          <p:cNvCxnSpPr/>
          <p:nvPr/>
        </p:nvCxnSpPr>
        <p:spPr>
          <a:xfrm>
            <a:off x="6949440" y="205740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ule"/>
          <p:cNvCxnSpPr/>
          <p:nvPr/>
        </p:nvCxnSpPr>
        <p:spPr>
          <a:xfrm>
            <a:off x="694944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ule"/>
          <p:cNvCxnSpPr/>
          <p:nvPr/>
        </p:nvCxnSpPr>
        <p:spPr>
          <a:xfrm flipV="1">
            <a:off x="6949440" y="205740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ule"/>
          <p:cNvCxnSpPr/>
          <p:nvPr/>
        </p:nvCxnSpPr>
        <p:spPr>
          <a:xfrm>
            <a:off x="6949440" y="263652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ule"/>
          <p:cNvCxnSpPr/>
          <p:nvPr/>
        </p:nvCxnSpPr>
        <p:spPr>
          <a:xfrm>
            <a:off x="6949440" y="263652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ule"/>
          <p:cNvCxnSpPr/>
          <p:nvPr/>
        </p:nvCxnSpPr>
        <p:spPr>
          <a:xfrm flipV="1">
            <a:off x="6949440" y="2057400"/>
            <a:ext cx="1188720" cy="115824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ule"/>
          <p:cNvCxnSpPr/>
          <p:nvPr/>
        </p:nvCxnSpPr>
        <p:spPr>
          <a:xfrm flipV="1">
            <a:off x="6949440" y="2926080"/>
            <a:ext cx="1188720" cy="2895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ule"/>
          <p:cNvCxnSpPr/>
          <p:nvPr/>
        </p:nvCxnSpPr>
        <p:spPr>
          <a:xfrm>
            <a:off x="6949440" y="3215640"/>
            <a:ext cx="1188720" cy="57912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ule"/>
          <p:cNvCxnSpPr/>
          <p:nvPr/>
        </p:nvCxnSpPr>
        <p:spPr>
          <a:xfrm flipV="1">
            <a:off x="6949440" y="2057400"/>
            <a:ext cx="1188720" cy="173736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ule"/>
          <p:cNvCxnSpPr/>
          <p:nvPr/>
        </p:nvCxnSpPr>
        <p:spPr>
          <a:xfrm flipV="1">
            <a:off x="6949440" y="2926080"/>
            <a:ext cx="1188720" cy="86868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ule"/>
          <p:cNvCxnSpPr/>
          <p:nvPr/>
        </p:nvCxnSpPr>
        <p:spPr>
          <a:xfrm>
            <a:off x="6949440" y="3794760"/>
            <a:ext cx="1188720" cy="0"/>
          </a:xfrm>
          <a:prstGeom prst="line">
            <a:avLst/>
          </a:prstGeom>
          <a:ln w="10160">
            <a:solidFill>
              <a:srgbClr val="B4B9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ame"/>
          <p:cNvSpPr/>
          <p:nvPr/>
        </p:nvSpPr>
        <p:spPr>
          <a:xfrm>
            <a:off x="4489704" y="19751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ame"/>
          <p:cNvSpPr/>
          <p:nvPr/>
        </p:nvSpPr>
        <p:spPr>
          <a:xfrm>
            <a:off x="4489704" y="255422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ame"/>
          <p:cNvSpPr/>
          <p:nvPr/>
        </p:nvSpPr>
        <p:spPr>
          <a:xfrm>
            <a:off x="4489704" y="31333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ame"/>
          <p:cNvSpPr/>
          <p:nvPr/>
        </p:nvSpPr>
        <p:spPr>
          <a:xfrm>
            <a:off x="4489704" y="371246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abel"/>
          <p:cNvSpPr txBox="1"/>
          <p:nvPr/>
        </p:nvSpPr>
        <p:spPr>
          <a:xfrm>
            <a:off x="4251960" y="3950208"/>
            <a:ext cx="6400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18</a:t>
            </a:r>
          </a:p>
        </p:txBody>
      </p:sp>
      <p:sp>
        <p:nvSpPr>
          <p:cNvPr id="71" name="frame"/>
          <p:cNvSpPr/>
          <p:nvPr/>
        </p:nvSpPr>
        <p:spPr>
          <a:xfrm>
            <a:off x="5678424" y="19751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ame"/>
          <p:cNvSpPr/>
          <p:nvPr/>
        </p:nvSpPr>
        <p:spPr>
          <a:xfrm>
            <a:off x="5678424" y="24094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ame"/>
          <p:cNvSpPr/>
          <p:nvPr/>
        </p:nvSpPr>
        <p:spPr>
          <a:xfrm>
            <a:off x="5678424" y="28437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ame"/>
          <p:cNvSpPr/>
          <p:nvPr/>
        </p:nvSpPr>
        <p:spPr>
          <a:xfrm>
            <a:off x="5678424" y="32781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ame"/>
          <p:cNvSpPr/>
          <p:nvPr/>
        </p:nvSpPr>
        <p:spPr>
          <a:xfrm>
            <a:off x="5678424" y="371246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abel"/>
          <p:cNvSpPr txBox="1"/>
          <p:nvPr/>
        </p:nvSpPr>
        <p:spPr>
          <a:xfrm>
            <a:off x="5440680" y="3950208"/>
            <a:ext cx="6400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64</a:t>
            </a:r>
          </a:p>
        </p:txBody>
      </p:sp>
      <p:sp>
        <p:nvSpPr>
          <p:cNvPr id="77" name="frame"/>
          <p:cNvSpPr/>
          <p:nvPr/>
        </p:nvSpPr>
        <p:spPr>
          <a:xfrm>
            <a:off x="6867144" y="19751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ame"/>
          <p:cNvSpPr/>
          <p:nvPr/>
        </p:nvSpPr>
        <p:spPr>
          <a:xfrm>
            <a:off x="6867144" y="255422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ame"/>
          <p:cNvSpPr/>
          <p:nvPr/>
        </p:nvSpPr>
        <p:spPr>
          <a:xfrm>
            <a:off x="6867144" y="31333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ame"/>
          <p:cNvSpPr/>
          <p:nvPr/>
        </p:nvSpPr>
        <p:spPr>
          <a:xfrm>
            <a:off x="6867144" y="371246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abel"/>
          <p:cNvSpPr txBox="1"/>
          <p:nvPr/>
        </p:nvSpPr>
        <p:spPr>
          <a:xfrm>
            <a:off x="6629400" y="3950208"/>
            <a:ext cx="6400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32</a:t>
            </a:r>
          </a:p>
        </p:txBody>
      </p:sp>
      <p:sp>
        <p:nvSpPr>
          <p:cNvPr id="82" name="frame"/>
          <p:cNvSpPr/>
          <p:nvPr/>
        </p:nvSpPr>
        <p:spPr>
          <a:xfrm>
            <a:off x="8055864" y="19751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ame"/>
          <p:cNvSpPr/>
          <p:nvPr/>
        </p:nvSpPr>
        <p:spPr>
          <a:xfrm>
            <a:off x="8055864" y="28437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ame"/>
          <p:cNvSpPr/>
          <p:nvPr/>
        </p:nvSpPr>
        <p:spPr>
          <a:xfrm>
            <a:off x="8055864" y="371246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abel"/>
          <p:cNvSpPr txBox="1"/>
          <p:nvPr/>
        </p:nvSpPr>
        <p:spPr>
          <a:xfrm>
            <a:off x="7818120" y="3950208"/>
            <a:ext cx="6400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86" name="label"/>
          <p:cNvSpPr txBox="1"/>
          <p:nvPr/>
        </p:nvSpPr>
        <p:spPr>
          <a:xfrm>
            <a:off x="4343400" y="4572000"/>
            <a:ext cx="416052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18 → 64 → 32 → 3</a:t>
            </a:r>
          </a:p>
        </p:txBody>
      </p:sp>
      <p:sp>
        <p:nvSpPr>
          <p:cNvPr id="87" name="label"/>
          <p:cNvSpPr txBox="1"/>
          <p:nvPr/>
        </p:nvSpPr>
        <p:spPr>
          <a:xfrm>
            <a:off x="3977640" y="5074920"/>
            <a:ext cx="5166360" cy="5943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ReLU · dropout 0.1 after first hidden layer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Circles represent dense layers; widths are exact</a:t>
            </a:r>
          </a:p>
        </p:txBody>
      </p:sp>
      <p:cxnSp>
        <p:nvCxnSpPr>
          <p:cNvPr id="88" name="arrow-flow"/>
          <p:cNvCxnSpPr/>
          <p:nvPr/>
        </p:nvCxnSpPr>
        <p:spPr>
          <a:xfrm>
            <a:off x="8412480" y="2926080"/>
            <a:ext cx="109728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ame"/>
          <p:cNvSpPr/>
          <p:nvPr/>
        </p:nvSpPr>
        <p:spPr>
          <a:xfrm>
            <a:off x="9509760" y="251460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abel"/>
          <p:cNvSpPr txBox="1"/>
          <p:nvPr/>
        </p:nvSpPr>
        <p:spPr>
          <a:xfrm>
            <a:off x="9509760" y="2514600"/>
            <a:ext cx="2194560" cy="7772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Raw correction gθ(x)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3 outputs</a:t>
            </a:r>
          </a:p>
        </p:txBody>
      </p:sp>
      <p:cxnSp>
        <p:nvCxnSpPr>
          <p:cNvPr id="91" name="arrow-flow"/>
          <p:cNvCxnSpPr/>
          <p:nvPr/>
        </p:nvCxnSpPr>
        <p:spPr>
          <a:xfrm>
            <a:off x="10607040" y="3291840"/>
            <a:ext cx="0" cy="612648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ame"/>
          <p:cNvSpPr/>
          <p:nvPr/>
        </p:nvSpPr>
        <p:spPr>
          <a:xfrm>
            <a:off x="9509760" y="39319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abel"/>
          <p:cNvSpPr txBox="1"/>
          <p:nvPr/>
        </p:nvSpPr>
        <p:spPr>
          <a:xfrm>
            <a:off x="9509760" y="3931920"/>
            <a:ext cx="2194560" cy="7772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 · softplus(gθ(x))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 = 1; nonnegative</a:t>
            </a:r>
          </a:p>
        </p:txBody>
      </p:sp>
      <p:cxnSp>
        <p:nvCxnSpPr>
          <p:cNvPr id="94" name="arrow-flow"/>
          <p:cNvCxnSpPr/>
          <p:nvPr/>
        </p:nvCxnSpPr>
        <p:spPr>
          <a:xfrm>
            <a:off x="11704320" y="4334256"/>
            <a:ext cx="7315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ame"/>
          <p:cNvSpPr/>
          <p:nvPr/>
        </p:nvSpPr>
        <p:spPr>
          <a:xfrm>
            <a:off x="12435840" y="393192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abel"/>
          <p:cNvSpPr txBox="1"/>
          <p:nvPr/>
        </p:nvSpPr>
        <p:spPr>
          <a:xfrm>
            <a:off x="12435840" y="3931920"/>
            <a:ext cx="1783080" cy="7772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Subtract from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GARCH quantiles</a:t>
            </a:r>
          </a:p>
        </p:txBody>
      </p:sp>
      <p:cxnSp>
        <p:nvCxnSpPr>
          <p:cNvPr id="97" name="rule"/>
          <p:cNvCxnSpPr/>
          <p:nvPr/>
        </p:nvCxnSpPr>
        <p:spPr>
          <a:xfrm>
            <a:off x="3200400" y="4069080"/>
            <a:ext cx="548639" cy="0"/>
          </a:xfrm>
          <a:prstGeom prst="line">
            <a:avLst/>
          </a:prstGeom>
          <a:ln w="10160">
            <a:solidFill>
              <a:srgbClr val="A45F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ule"/>
          <p:cNvCxnSpPr/>
          <p:nvPr/>
        </p:nvCxnSpPr>
        <p:spPr>
          <a:xfrm flipV="1">
            <a:off x="3749039" y="1737360"/>
            <a:ext cx="0" cy="2331720"/>
          </a:xfrm>
          <a:prstGeom prst="line">
            <a:avLst/>
          </a:prstGeom>
          <a:ln w="10160">
            <a:solidFill>
              <a:srgbClr val="A45F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arrow-flow"/>
          <p:cNvCxnSpPr/>
          <p:nvPr/>
        </p:nvCxnSpPr>
        <p:spPr>
          <a:xfrm>
            <a:off x="3749039" y="1737360"/>
            <a:ext cx="9601201" cy="0"/>
          </a:xfrm>
          <a:prstGeom prst="line">
            <a:avLst/>
          </a:prstGeom>
          <a:ln w="17780">
            <a:solidFill>
              <a:srgbClr val="A45F5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arrow-flow"/>
          <p:cNvCxnSpPr/>
          <p:nvPr/>
        </p:nvCxnSpPr>
        <p:spPr>
          <a:xfrm>
            <a:off x="13350240" y="1737360"/>
            <a:ext cx="0" cy="2194560"/>
          </a:xfrm>
          <a:prstGeom prst="line">
            <a:avLst/>
          </a:prstGeom>
          <a:ln w="17780">
            <a:solidFill>
              <a:srgbClr val="A45F5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label"/>
          <p:cNvSpPr txBox="1"/>
          <p:nvPr/>
        </p:nvSpPr>
        <p:spPr>
          <a:xfrm>
            <a:off x="9509760" y="1234440"/>
            <a:ext cx="4617720" cy="3657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One-step GARCH-t anchor</a:t>
            </a:r>
          </a:p>
        </p:txBody>
      </p:sp>
      <p:cxnSp>
        <p:nvCxnSpPr>
          <p:cNvPr id="102" name="arrow-flow"/>
          <p:cNvCxnSpPr/>
          <p:nvPr/>
        </p:nvCxnSpPr>
        <p:spPr>
          <a:xfrm>
            <a:off x="13350240" y="4709160"/>
            <a:ext cx="0" cy="45720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ame"/>
          <p:cNvSpPr/>
          <p:nvPr/>
        </p:nvSpPr>
        <p:spPr>
          <a:xfrm>
            <a:off x="12207240" y="5212080"/>
            <a:ext cx="2240280" cy="777240"/>
          </a:xfrm>
          <a:prstGeom prst="roundRect">
            <a:avLst>
              <a:gd name="adj" fmla="val 5000"/>
            </a:avLst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abel"/>
          <p:cNvSpPr txBox="1"/>
          <p:nvPr/>
        </p:nvSpPr>
        <p:spPr>
          <a:xfrm>
            <a:off x="12207240" y="5212080"/>
            <a:ext cx="2240280" cy="7772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Sort across α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Final return quantiles</a:t>
            </a:r>
          </a:p>
        </p:txBody>
      </p:sp>
      <p:sp>
        <p:nvSpPr>
          <p:cNvPr id="105" name="frame"/>
          <p:cNvSpPr/>
          <p:nvPr/>
        </p:nvSpPr>
        <p:spPr>
          <a:xfrm>
            <a:off x="457200" y="6400800"/>
            <a:ext cx="13624560" cy="11887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959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ormula-c2"/>
          <p:cNvSpPr txBox="1"/>
          <p:nvPr/>
        </p:nvSpPr>
        <p:spPr>
          <a:xfrm>
            <a:off x="777240" y="6537960"/>
            <a:ext cx="12984480" cy="43891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>
                <a:latin typeface="Times New Roman"/>
              </a:rPr>
              <a:t>q̂</a:t>
            </a:r>
            <a:r>
              <a:rPr sz="1472" baseline="30000">
                <a:latin typeface="Times New Roman"/>
              </a:rPr>
              <a:t>C2</a:t>
            </a:r>
            <a:r>
              <a:rPr sz="1472" baseline="-25000">
                <a:latin typeface="Times New Roman"/>
              </a:rPr>
              <a:t>α,t</a:t>
            </a:r>
            <a:r>
              <a:rPr sz="2300">
                <a:latin typeface="Times New Roman"/>
              </a:rPr>
              <a:t> = sort</a:t>
            </a:r>
            <a:r>
              <a:rPr sz="1472" baseline="-25000">
                <a:latin typeface="Times New Roman"/>
              </a:rPr>
              <a:t>α</a:t>
            </a:r>
            <a:r>
              <a:rPr sz="2300">
                <a:latin typeface="Times New Roman"/>
              </a:rPr>
              <a:t> [ q̂</a:t>
            </a:r>
            <a:r>
              <a:rPr sz="1472" baseline="30000">
                <a:latin typeface="Times New Roman"/>
              </a:rPr>
              <a:t>GARCH</a:t>
            </a:r>
            <a:r>
              <a:rPr sz="1472" baseline="-25000">
                <a:latin typeface="Times New Roman"/>
              </a:rPr>
              <a:t>α,t</a:t>
            </a:r>
            <a:r>
              <a:rPr sz="2300">
                <a:latin typeface="Times New Roman"/>
              </a:rPr>
              <a:t> − s · softplus(g</a:t>
            </a:r>
            <a:r>
              <a:rPr sz="1472" baseline="-25000">
                <a:latin typeface="Times New Roman"/>
              </a:rPr>
              <a:t>θ</a:t>
            </a:r>
            <a:r>
              <a:rPr sz="2300">
                <a:latin typeface="Times New Roman"/>
              </a:rPr>
              <a:t>(x))</a:t>
            </a:r>
            <a:r>
              <a:rPr sz="1472" baseline="-25000">
                <a:latin typeface="Times New Roman"/>
              </a:rPr>
              <a:t>α</a:t>
            </a:r>
            <a:r>
              <a:rPr sz="2300">
                <a:latin typeface="Times New Roman"/>
              </a:rPr>
              <a:t> ]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777240" y="7068312"/>
            <a:ext cx="129844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02124"/>
                </a:solidFill>
                <a:latin typeface="Times New Roman"/>
                <a:ea typeface="Times New Roman"/>
              </a:rPr>
              <a:t>Training: mean pinball loss over α = 0.01, 0.05, 0.10; chronological early stopping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320040" y="7799831"/>
            <a:ext cx="13990320" cy="2743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Implemented project model; inherited regularization was selected after inspecting historical test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274320" y="91440"/>
            <a:ext cx="14081760" cy="5486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202124"/>
                </a:solidFill>
                <a:latin typeface="Times New Roman"/>
                <a:ea typeface="Times New Roman"/>
              </a:rPr>
              <a:t>Patch-based Transformer for one-day return quantiles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65760" y="704088"/>
            <a:ext cx="1389888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Project-specific adaptation inspired by PatchTST (Nie et al., ICLR 2023)</a:t>
            </a:r>
          </a:p>
        </p:txBody>
      </p:sp>
      <p:sp>
        <p:nvSpPr>
          <p:cNvPr id="4" name="dashed-observed-window"/>
          <p:cNvSpPr/>
          <p:nvPr/>
        </p:nvSpPr>
        <p:spPr>
          <a:xfrm>
            <a:off x="320040" y="1325880"/>
            <a:ext cx="3291840" cy="27432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6671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411480" y="1371600"/>
            <a:ext cx="310896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(a) Input: 64 observed log returns</a:t>
            </a:r>
          </a:p>
        </p:txBody>
      </p:sp>
      <p:pic>
        <p:nvPicPr>
          <p:cNvPr id="6" name="patch_input" descr="patch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5126"/>
            <a:ext cx="2971800" cy="1290386"/>
          </a:xfrm>
          <a:prstGeom prst="rect">
            <a:avLst/>
          </a:prstGeom>
          <a:effectLst/>
        </p:spPr>
      </p:pic>
      <p:sp>
        <p:nvSpPr>
          <p:cNvPr id="7" name="label"/>
          <p:cNvSpPr txBox="1"/>
          <p:nvPr/>
        </p:nvSpPr>
        <p:spPr>
          <a:xfrm>
            <a:off x="457200" y="3429000"/>
            <a:ext cx="2971800" cy="3657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One return channel; no future data</a:t>
            </a:r>
          </a:p>
        </p:txBody>
      </p:sp>
      <p:cxnSp>
        <p:nvCxnSpPr>
          <p:cNvPr id="8" name="arrow-flow"/>
          <p:cNvCxnSpPr/>
          <p:nvPr/>
        </p:nvCxnSpPr>
        <p:spPr>
          <a:xfrm>
            <a:off x="3611880" y="2606040"/>
            <a:ext cx="54864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ame"/>
          <p:cNvSpPr/>
          <p:nvPr/>
        </p:nvSpPr>
        <p:spPr>
          <a:xfrm>
            <a:off x="4160520" y="201168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"/>
          <p:cNvSpPr txBox="1"/>
          <p:nvPr/>
        </p:nvSpPr>
        <p:spPr>
          <a:xfrm>
            <a:off x="4160520" y="2011680"/>
            <a:ext cx="2194560" cy="11887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Reversible per-window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normalization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(no learnable affine)</a:t>
            </a:r>
          </a:p>
        </p:txBody>
      </p:sp>
      <p:cxnSp>
        <p:nvCxnSpPr>
          <p:cNvPr id="11" name="arrow-flow"/>
          <p:cNvCxnSpPr/>
          <p:nvPr/>
        </p:nvCxnSpPr>
        <p:spPr>
          <a:xfrm>
            <a:off x="6355080" y="2606040"/>
            <a:ext cx="54864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ame"/>
          <p:cNvSpPr/>
          <p:nvPr/>
        </p:nvSpPr>
        <p:spPr>
          <a:xfrm>
            <a:off x="6903720" y="20116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"/>
          <p:cNvSpPr txBox="1"/>
          <p:nvPr/>
        </p:nvSpPr>
        <p:spPr>
          <a:xfrm>
            <a:off x="6903720" y="2011680"/>
            <a:ext cx="2377440" cy="11887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Patch tokenization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length 16 · stride 8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7 overlapping patches</a:t>
            </a:r>
          </a:p>
        </p:txBody>
      </p:sp>
      <p:cxnSp>
        <p:nvCxnSpPr>
          <p:cNvPr id="14" name="arrow-flow"/>
          <p:cNvCxnSpPr/>
          <p:nvPr/>
        </p:nvCxnSpPr>
        <p:spPr>
          <a:xfrm>
            <a:off x="9281160" y="2606040"/>
            <a:ext cx="5029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ame"/>
          <p:cNvSpPr/>
          <p:nvPr/>
        </p:nvSpPr>
        <p:spPr>
          <a:xfrm>
            <a:off x="9784080" y="2011680"/>
            <a:ext cx="2148840" cy="118872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el"/>
          <p:cNvSpPr txBox="1"/>
          <p:nvPr/>
        </p:nvSpPr>
        <p:spPr>
          <a:xfrm>
            <a:off x="9784080" y="2011680"/>
            <a:ext cx="2148840" cy="11887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Linear projection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+ learned position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202124"/>
                </a:solidFill>
                <a:latin typeface="Times New Roman"/>
                <a:ea typeface="Times New Roman"/>
              </a:rPr>
              <a:t>7 tokens · width 32</a:t>
            </a:r>
          </a:p>
        </p:txBody>
      </p:sp>
      <p:cxnSp>
        <p:nvCxnSpPr>
          <p:cNvPr id="17" name="arrow-flow"/>
          <p:cNvCxnSpPr/>
          <p:nvPr/>
        </p:nvCxnSpPr>
        <p:spPr>
          <a:xfrm>
            <a:off x="11932920" y="2606040"/>
            <a:ext cx="5029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ame"/>
          <p:cNvSpPr/>
          <p:nvPr/>
        </p:nvSpPr>
        <p:spPr>
          <a:xfrm>
            <a:off x="12435840" y="1920240"/>
            <a:ext cx="1965960" cy="137160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el"/>
          <p:cNvSpPr txBox="1"/>
          <p:nvPr/>
        </p:nvSpPr>
        <p:spPr>
          <a:xfrm>
            <a:off x="12435840" y="1920240"/>
            <a:ext cx="1965960" cy="13716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02124"/>
                </a:solidFill>
                <a:latin typeface="Times New Roman"/>
                <a:ea typeface="Times New Roman"/>
              </a:rPr>
              <a:t>Transformer encoder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02124"/>
                </a:solidFill>
                <a:latin typeface="Times New Roman"/>
                <a:ea typeface="Times New Roman"/>
              </a:rPr>
              <a:t>2 layers · 4 heads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02124"/>
                </a:solidFill>
                <a:latin typeface="Times New Roman"/>
                <a:ea typeface="Times New Roman"/>
              </a:rPr>
              <a:t>FFN 64 · dropout 0.1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13414248" y="3291840"/>
            <a:ext cx="0" cy="1097280"/>
          </a:xfrm>
          <a:prstGeom prst="line">
            <a:avLst/>
          </a:prstGeom>
          <a:ln w="10160">
            <a:solidFill>
              <a:srgbClr val="6671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row-flow"/>
          <p:cNvCxnSpPr/>
          <p:nvPr/>
        </p:nvCxnSpPr>
        <p:spPr>
          <a:xfrm flipH="1">
            <a:off x="11338560" y="4389120"/>
            <a:ext cx="2075688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ame"/>
          <p:cNvSpPr/>
          <p:nvPr/>
        </p:nvSpPr>
        <p:spPr>
          <a:xfrm>
            <a:off x="9144000" y="39319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bel"/>
          <p:cNvSpPr txBox="1"/>
          <p:nvPr/>
        </p:nvSpPr>
        <p:spPr>
          <a:xfrm>
            <a:off x="9144000" y="3931920"/>
            <a:ext cx="2194560" cy="9144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Flatten 7 × 32</a:t>
            </a:r>
          </a:p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Linear 224 → 3</a:t>
            </a:r>
          </a:p>
        </p:txBody>
      </p:sp>
      <p:cxnSp>
        <p:nvCxnSpPr>
          <p:cNvPr id="24" name="arrow-flow"/>
          <p:cNvCxnSpPr/>
          <p:nvPr/>
        </p:nvCxnSpPr>
        <p:spPr>
          <a:xfrm flipH="1">
            <a:off x="8503920" y="4389120"/>
            <a:ext cx="64008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ame"/>
          <p:cNvSpPr/>
          <p:nvPr/>
        </p:nvSpPr>
        <p:spPr>
          <a:xfrm>
            <a:off x="6080760" y="3931920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"/>
          <p:cNvSpPr txBox="1"/>
          <p:nvPr/>
        </p:nvSpPr>
        <p:spPr>
          <a:xfrm>
            <a:off x="6080760" y="3931920"/>
            <a:ext cx="2423160" cy="91440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Inverse normalization</a:t>
            </a:r>
          </a:p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+ quantile sorting</a:t>
            </a:r>
          </a:p>
        </p:txBody>
      </p:sp>
      <p:cxnSp>
        <p:nvCxnSpPr>
          <p:cNvPr id="27" name="arrow-flow"/>
          <p:cNvCxnSpPr/>
          <p:nvPr/>
        </p:nvCxnSpPr>
        <p:spPr>
          <a:xfrm flipH="1">
            <a:off x="5806440" y="4389120"/>
            <a:ext cx="274320" cy="0"/>
          </a:xfrm>
          <a:prstGeom prst="line">
            <a:avLst/>
          </a:prstGeom>
          <a:ln w="17780">
            <a:solidFill>
              <a:srgbClr val="66717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ame"/>
          <p:cNvSpPr/>
          <p:nvPr/>
        </p:nvSpPr>
        <p:spPr>
          <a:xfrm>
            <a:off x="3749039" y="3977640"/>
            <a:ext cx="2057400" cy="822960"/>
          </a:xfrm>
          <a:prstGeom prst="roundRect">
            <a:avLst>
              <a:gd name="adj" fmla="val 5000"/>
            </a:avLst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bel"/>
          <p:cNvSpPr txBox="1"/>
          <p:nvPr/>
        </p:nvSpPr>
        <p:spPr>
          <a:xfrm>
            <a:off x="3749039" y="3977640"/>
            <a:ext cx="2057400" cy="8229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q₀.₀₁,t, q₀.₀₅,t, q₀.₁₀,t</a:t>
            </a:r>
          </a:p>
        </p:txBody>
      </p:sp>
      <p:sp>
        <p:nvSpPr>
          <p:cNvPr id="30" name="label"/>
          <p:cNvSpPr txBox="1"/>
          <p:nvPr/>
        </p:nvSpPr>
        <p:spPr>
          <a:xfrm>
            <a:off x="411480" y="4434840"/>
            <a:ext cx="237744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202124"/>
                </a:solidFill>
                <a:latin typeface="Times New Roman"/>
                <a:ea typeface="Times New Roman"/>
              </a:rPr>
              <a:t>(b) Native patch representation</a:t>
            </a:r>
          </a:p>
        </p:txBody>
      </p:sp>
      <p:sp>
        <p:nvSpPr>
          <p:cNvPr id="31" name="frame"/>
          <p:cNvSpPr/>
          <p:nvPr/>
        </p:nvSpPr>
        <p:spPr>
          <a:xfrm>
            <a:off x="502920" y="5120640"/>
            <a:ext cx="1371600" cy="228600"/>
          </a:xfrm>
          <a:prstGeom prst="rect">
            <a:avLst/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ame"/>
          <p:cNvSpPr/>
          <p:nvPr/>
        </p:nvSpPr>
        <p:spPr>
          <a:xfrm>
            <a:off x="777240" y="5157216"/>
            <a:ext cx="1371600" cy="228600"/>
          </a:xfrm>
          <a:prstGeom prst="rect">
            <a:avLst/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ame"/>
          <p:cNvSpPr/>
          <p:nvPr/>
        </p:nvSpPr>
        <p:spPr>
          <a:xfrm>
            <a:off x="1051560" y="5193792"/>
            <a:ext cx="1371600" cy="228600"/>
          </a:xfrm>
          <a:prstGeom prst="rect">
            <a:avLst/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ame"/>
          <p:cNvSpPr/>
          <p:nvPr/>
        </p:nvSpPr>
        <p:spPr>
          <a:xfrm>
            <a:off x="1325880" y="5230368"/>
            <a:ext cx="1371600" cy="228600"/>
          </a:xfrm>
          <a:prstGeom prst="rect">
            <a:avLst/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ame"/>
          <p:cNvSpPr/>
          <p:nvPr/>
        </p:nvSpPr>
        <p:spPr>
          <a:xfrm>
            <a:off x="1600200" y="5266944"/>
            <a:ext cx="1371600" cy="228600"/>
          </a:xfrm>
          <a:prstGeom prst="rect">
            <a:avLst/>
          </a:prstGeom>
          <a:solidFill>
            <a:srgbClr val="E7DFF1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ame"/>
          <p:cNvSpPr/>
          <p:nvPr/>
        </p:nvSpPr>
        <p:spPr>
          <a:xfrm>
            <a:off x="1874519" y="5303520"/>
            <a:ext cx="1371600" cy="228600"/>
          </a:xfrm>
          <a:prstGeom prst="rect">
            <a:avLst/>
          </a:prstGeom>
          <a:solidFill>
            <a:srgbClr val="E1EEE7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ame"/>
          <p:cNvSpPr/>
          <p:nvPr/>
        </p:nvSpPr>
        <p:spPr>
          <a:xfrm>
            <a:off x="2148840" y="5340096"/>
            <a:ext cx="1371600" cy="228600"/>
          </a:xfrm>
          <a:prstGeom prst="rect">
            <a:avLst/>
          </a:prstGeom>
          <a:solidFill>
            <a:srgbClr val="DCE7F6"/>
          </a:solidFill>
          <a:ln w="12700">
            <a:solidFill>
              <a:srgbClr val="667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abel"/>
          <p:cNvSpPr txBox="1"/>
          <p:nvPr/>
        </p:nvSpPr>
        <p:spPr>
          <a:xfrm>
            <a:off x="365760" y="5943600"/>
            <a:ext cx="3474720" cy="5486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Patch overlap is structural;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no fabricated activations shown</a:t>
            </a:r>
          </a:p>
        </p:txBody>
      </p:sp>
      <p:sp>
        <p:nvSpPr>
          <p:cNvPr id="39" name="frame"/>
          <p:cNvSpPr/>
          <p:nvPr/>
        </p:nvSpPr>
        <p:spPr>
          <a:xfrm>
            <a:off x="4206240" y="5577840"/>
            <a:ext cx="10195560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959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abel"/>
          <p:cNvSpPr txBox="1"/>
          <p:nvPr/>
        </p:nvSpPr>
        <p:spPr>
          <a:xfrm>
            <a:off x="4343400" y="5669280"/>
            <a:ext cx="9875520" cy="3657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(c) Quantile objective and chronological validation</a:t>
            </a:r>
          </a:p>
        </p:txBody>
      </p:sp>
      <p:sp>
        <p:nvSpPr>
          <p:cNvPr id="41" name="formula-pinball"/>
          <p:cNvSpPr txBox="1"/>
          <p:nvPr/>
        </p:nvSpPr>
        <p:spPr>
          <a:xfrm>
            <a:off x="4389120" y="6126480"/>
            <a:ext cx="9738360" cy="41148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>
                <a:latin typeface="Times New Roman"/>
              </a:rPr>
              <a:t>L(θ) = mean</a:t>
            </a:r>
            <a:r>
              <a:rPr sz="1344" baseline="-25000">
                <a:latin typeface="Times New Roman"/>
              </a:rPr>
              <a:t>α,t</a:t>
            </a:r>
            <a:r>
              <a:rPr sz="2100">
                <a:latin typeface="Times New Roman"/>
              </a:rPr>
              <a:t> ρ</a:t>
            </a:r>
            <a:r>
              <a:rPr sz="1344" baseline="-25000">
                <a:latin typeface="Times New Roman"/>
              </a:rPr>
              <a:t>α</a:t>
            </a:r>
            <a:r>
              <a:rPr sz="2100">
                <a:latin typeface="Times New Roman"/>
              </a:rPr>
              <a:t>(r</a:t>
            </a:r>
            <a:r>
              <a:rPr sz="1344" baseline="-25000">
                <a:latin typeface="Times New Roman"/>
              </a:rPr>
              <a:t>t</a:t>
            </a:r>
            <a:r>
              <a:rPr sz="2100">
                <a:latin typeface="Times New Roman"/>
              </a:rPr>
              <a:t> − q̂</a:t>
            </a:r>
            <a:r>
              <a:rPr sz="1344" baseline="-25000">
                <a:latin typeface="Times New Roman"/>
              </a:rPr>
              <a:t>α,t</a:t>
            </a:r>
            <a:r>
              <a:rPr sz="2100">
                <a:latin typeface="Times New Roman"/>
              </a:rPr>
              <a:t>);    ρ</a:t>
            </a:r>
            <a:r>
              <a:rPr sz="1344" baseline="-25000">
                <a:latin typeface="Times New Roman"/>
              </a:rPr>
              <a:t>α</a:t>
            </a:r>
            <a:r>
              <a:rPr sz="2100">
                <a:latin typeface="Times New Roman"/>
              </a:rPr>
              <a:t>(u) = max(αu, (α − 1)u)</a:t>
            </a:r>
          </a:p>
        </p:txBody>
      </p:sp>
      <p:sp>
        <p:nvSpPr>
          <p:cNvPr id="42" name="label"/>
          <p:cNvSpPr txBox="1"/>
          <p:nvPr/>
        </p:nvSpPr>
        <p:spPr>
          <a:xfrm>
            <a:off x="4389120" y="6611112"/>
            <a:ext cx="973836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02124"/>
                </a:solidFill>
                <a:latin typeface="Times New Roman"/>
                <a:ea typeface="Times New Roman"/>
              </a:rPr>
              <a:t>20-epoch cap · Adam 0.001 · batch 64 · 20% trailing validation · refit every 20 days</a:t>
            </a:r>
          </a:p>
        </p:txBody>
      </p:sp>
      <p:sp>
        <p:nvSpPr>
          <p:cNvPr id="43" name="label"/>
          <p:cNvSpPr txBox="1"/>
          <p:nvPr/>
        </p:nvSpPr>
        <p:spPr>
          <a:xfrm>
            <a:off x="320040" y="7589520"/>
            <a:ext cx="13990320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02124"/>
                </a:solidFill>
                <a:latin typeface="Times New Roman"/>
                <a:ea typeface="Times New Roman"/>
              </a:rPr>
              <a:t>Univariate quantile adaptation; distinct from the original long-horizon point-forecasting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274320" y="45720"/>
            <a:ext cx="14081760" cy="5486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202124"/>
                </a:solidFill>
                <a:latin typeface="Times New Roman"/>
                <a:ea typeface="Times New Roman"/>
              </a:rPr>
              <a:t>Archived forecasts on common target dates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65760" y="685800"/>
            <a:ext cx="13898880" cy="3657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(a) Observed violation rates; dashed lines mark nominal probabilities</a:t>
            </a:r>
          </a:p>
        </p:txBody>
      </p:sp>
      <p:pic>
        <p:nvPicPr>
          <p:cNvPr id="4" name="calibration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5689"/>
            <a:ext cx="13898880" cy="3423621"/>
          </a:xfrm>
          <a:prstGeom prst="rect">
            <a:avLst/>
          </a:prstGeom>
          <a:effectLst/>
        </p:spPr>
      </p:pic>
      <p:sp>
        <p:nvSpPr>
          <p:cNvPr id="5" name="label"/>
          <p:cNvSpPr txBox="1"/>
          <p:nvPr/>
        </p:nvSpPr>
        <p:spPr>
          <a:xfrm>
            <a:off x="365760" y="4681728"/>
            <a:ext cx="13898880" cy="36576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202124"/>
                </a:solidFill>
                <a:latin typeface="Times New Roman"/>
                <a:ea typeface="Times New Roman"/>
              </a:rPr>
              <a:t>(b) C2 1% quantile and all observed returns on the same 2,640 dates</a:t>
            </a:r>
          </a:p>
        </p:txBody>
      </p:sp>
      <p:pic>
        <p:nvPicPr>
          <p:cNvPr id="6" name="c2_trace" descr="c2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80" y="5120640"/>
            <a:ext cx="12529038" cy="2606040"/>
          </a:xfrm>
          <a:prstGeom prst="rect">
            <a:avLst/>
          </a:prstGeom>
          <a:effectLst/>
        </p:spPr>
      </p:pic>
      <p:sp>
        <p:nvSpPr>
          <p:cNvPr id="7" name="label"/>
          <p:cNvSpPr txBox="1"/>
          <p:nvPr/>
        </p:nvSpPr>
        <p:spPr>
          <a:xfrm>
            <a:off x="320040" y="7818120"/>
            <a:ext cx="13990320" cy="27432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124"/>
                </a:solidFill>
                <a:latin typeface="Times New Roman"/>
                <a:ea typeface="Times New Roman"/>
              </a:rPr>
              <a:t>2008-01-03–2018-06-27 · exact archived CSVs · exploratory evidence; no superiority 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